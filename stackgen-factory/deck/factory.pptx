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64dee4d2-858b-aefd-1675-995b47148e85}">
          <p14:sldIdLst>
            <p14:sldId id="256"/>
            <p14:sldId id="257"/>
            <p14:sldId id="258"/>
          </p14:sldIdLst>
        </p14:section>
        <p14:section name="Design" id="{f58d66ae-b767-2170-60d6-eadadb9d4bcb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Demo" id="{6dc15e5b-db6c-5aaf-c25e-f7ba55af452d}">
          <p14:sldIdLst>
            <p14:sldId id="267"/>
          </p14:sldIdLst>
        </p14:section>
        <p14:section name="Scope" id="{4eb25aa8-38f3-a1d0-5d46-e951f2483780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Blueprint is the template; the deployment spec is one resolved instance; the DAG realises it. The kustomize tree is generated by the control plane only after build has produced an image.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tree is generated by the control plane, asked for over HTTP by the DAG. Airflow orchestrates; it does not generate.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Authored once by the platform admin. Validated before publish.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resolved instance of a blueprint. Immutable.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DAG per spec. The sequence is a graph, walked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task goes through the policy check before it acts.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target is an option on the spec. k8s is the first implemented.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Policy-bound actions: PBAC, with RBAC as one input.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caller is authenticated; the token, not the request, says who they 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criterion is the admin's; the threshold is the developer's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Claude Code through the factory MCP server. The screenshot is an earlier run, before manifests moved after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stand-in sits behind an interface; replacing it does not change the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0604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Autonomous Operations Factory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06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Working prototype: the design, and why each decision was made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The pipeline</a:t>
            </a:r>
            <a:endParaRPr lang="en-US" sz="2800" dirty="0"/>
          </a:p>
        </p:txBody>
      </p:sp>
      <p:sp>
        <p:nvSpPr>
          <p:cNvPr id="4" name="Blueprint"/>
          <p:cNvSpPr/>
          <p:nvPr/>
        </p:nvSpPr>
        <p:spPr>
          <a:xfrm>
            <a:off x="457200" y="1051560"/>
            <a:ext cx="2103120" cy="6858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0515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Blueprint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7647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platform admin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606040" y="1394460"/>
            <a:ext cx="640080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8" name="Text 5"/>
          <p:cNvSpPr txBox="1"/>
          <p:nvPr/>
        </p:nvSpPr>
        <p:spPr>
          <a:xfrm>
            <a:off x="2606040" y="10972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resolve</a:t>
            </a:r>
            <a:endParaRPr lang="en-US" sz="900" dirty="0"/>
          </a:p>
        </p:txBody>
      </p:sp>
      <p:sp>
        <p:nvSpPr>
          <p:cNvPr id="9" name="Deployment Spec"/>
          <p:cNvSpPr/>
          <p:nvPr/>
        </p:nvSpPr>
        <p:spPr>
          <a:xfrm>
            <a:off x="3291840" y="1051560"/>
            <a:ext cx="2377440" cy="6858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291840" y="10515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Deployment Spec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3291840" y="17647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developer's answers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715000" y="1394460"/>
            <a:ext cx="640080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3" name="DAG (Airflow)"/>
          <p:cNvSpPr/>
          <p:nvPr/>
        </p:nvSpPr>
        <p:spPr>
          <a:xfrm>
            <a:off x="6400800" y="1051560"/>
            <a:ext cx="2286000" cy="6858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0" y="10515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DAG (Airflow)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0" y="1764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one per spec</a:t>
            </a:r>
            <a:endParaRPr lang="en-US" sz="1000" dirty="0"/>
          </a:p>
        </p:txBody>
      </p:sp>
      <p:sp>
        <p:nvSpPr>
          <p:cNvPr id="16" name="scaffold"/>
          <p:cNvSpPr/>
          <p:nvPr/>
        </p:nvSpPr>
        <p:spPr>
          <a:xfrm>
            <a:off x="457200" y="2514600"/>
            <a:ext cx="1097280" cy="54864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7200" y="25146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scaffold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559052" y="2788920"/>
            <a:ext cx="82296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9" name="build"/>
          <p:cNvSpPr/>
          <p:nvPr/>
        </p:nvSpPr>
        <p:spPr>
          <a:xfrm>
            <a:off x="1645920" y="2514600"/>
            <a:ext cx="914400" cy="54864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645920" y="25146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564892" y="2788920"/>
            <a:ext cx="82296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2" name="deploy_staging"/>
          <p:cNvSpPr/>
          <p:nvPr/>
        </p:nvSpPr>
        <p:spPr>
          <a:xfrm>
            <a:off x="2651760" y="2514600"/>
            <a:ext cx="1371600" cy="54864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651760" y="25146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deploy_staging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027932" y="2788920"/>
            <a:ext cx="82296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5" name="checks"/>
          <p:cNvSpPr/>
          <p:nvPr/>
        </p:nvSpPr>
        <p:spPr>
          <a:xfrm>
            <a:off x="4114800" y="2514600"/>
            <a:ext cx="914400" cy="54864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114800" y="25146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checks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033772" y="2788920"/>
            <a:ext cx="82296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8" name="sign_off"/>
          <p:cNvSpPr/>
          <p:nvPr/>
        </p:nvSpPr>
        <p:spPr>
          <a:xfrm>
            <a:off x="5120640" y="2514600"/>
            <a:ext cx="960120" cy="54864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120640" y="251460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sign_off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085332" y="2788920"/>
            <a:ext cx="82296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1" name="promote_production"/>
          <p:cNvSpPr/>
          <p:nvPr/>
        </p:nvSpPr>
        <p:spPr>
          <a:xfrm>
            <a:off x="6172200" y="2514600"/>
            <a:ext cx="1600200" cy="54864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172200" y="25146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promote_production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457200" y="22128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DAG tasks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2103120" y="3063240"/>
            <a:ext cx="0" cy="50292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457200" y="3611880"/>
            <a:ext cx="4206240" cy="6858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94360" y="36118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Control plane generates the kustomize tree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naming the image build produced (tag = commit)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4937760" y="36118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deploy / promote: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 overlay → kubectl apply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A failed build leaves no tree: nothing names an image that was never built.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Who writes what, and when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206240"/>
                <a:gridCol w="20116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Artifact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Written by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B3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Blueprint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admin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 Spec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plane, from the developer's answers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DAG factory, from the spec in the store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Airflow parse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task, tagged with the commit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scaffold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kustomize tree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plane, asked by the build task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build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3108960"/>
            <a:ext cx="8229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chemeClr val="tx2"/>
                </a:solidFill>
              </a:rPr>
              <a:t>Why after build: 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a tree for an image that was never built records a deployment that cannot happen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chemeClr val="tx2"/>
                </a:solidFill>
              </a:rPr>
              <a:t>How: 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build calls POST /api/deployments/:id/manifests with its image. A blueprint with no build calls it before the first deploy, with the answered image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chemeClr val="tx2"/>
                </a:solidFill>
              </a:rPr>
              <a:t>Once per spec: 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a second call is refused (409), so a retry cannot replace a tree a deploy may be applying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4572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control-plane/src/manifests.js · orchestrator/dags/factory_manifests.py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Blueprint</a:t>
            </a:r>
            <a:endParaRPr lang="en-US" sz="2800" dirty="0"/>
          </a:p>
        </p:txBody>
      </p:sp>
      <p:sp>
        <p:nvSpPr>
          <p:cNvPr id="4" name="decision"/>
          <p:cNvSpPr/>
          <p:nvPr/>
        </p:nvSpPr>
        <p:spPr>
          <a:xfrm>
            <a:off x="457200" y="1005840"/>
            <a:ext cx="8229600" cy="658368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00584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</a:rPr>
              <a:t>DECISION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737360" y="100584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One document holds the governance and the workload envelope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92024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Governance: 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questions, boundaries, sequence, gate, record, acceptance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Workload: 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replicas, cpu, memory, per environment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Why: 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an operation is governed in one place, authored once, reused by many deployments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Refused at publish: 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 sequence that cannot run: a cycle, or a needs that points nowhere</a:t>
            </a:r>
            <a:endParaRPr lang="en-US" sz="1400" dirty="0"/>
          </a:p>
        </p:txBody>
      </p:sp>
      <p:sp>
        <p:nvSpPr>
          <p:cNvPr id="8" name="code"/>
          <p:cNvSpPr/>
          <p:nvPr/>
        </p:nvSpPr>
        <p:spPr>
          <a:xfrm>
            <a:off x="5577840" y="1920240"/>
            <a:ext cx="3108960" cy="2514600"/>
          </a:xfrm>
          <a:prstGeom prst="roundRect">
            <a:avLst>
              <a:gd name="adj" fmla="val 218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760720" y="2057400"/>
            <a:ext cx="27432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foo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version: 1.0.0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owner_team: platform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visibility: shared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questions: [app_name, ...]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boundaries: {...}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workload: {...}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sequence: [...]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acceptance: [...]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572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control-plane/src/blueprint.js · sequence.js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Deployment Spec</a:t>
            </a:r>
            <a:endParaRPr lang="en-US" sz="2800" dirty="0"/>
          </a:p>
        </p:txBody>
      </p:sp>
      <p:sp>
        <p:nvSpPr>
          <p:cNvPr id="4" name="decision"/>
          <p:cNvSpPr/>
          <p:nvPr/>
        </p:nvSpPr>
        <p:spPr>
          <a:xfrm>
            <a:off x="457200" y="1005840"/>
            <a:ext cx="8229600" cy="658368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00584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</a:rPr>
              <a:t>DECISION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737360" y="100584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Blueprint + answers, resolved into one immutable document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92024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Why two documents: 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one blueprint serves many deployments, so it cannot hold instance values. Same split as Helm chart → release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Immutable: 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 new blueprint version produces a new spec; the audit keeps what was actually deployed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Target: 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type selects it; k8s is the one implemented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Submission: 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writing the spec submits it. No run button, and the submission is audited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Image: 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not in the spec. The build reports it; it is recorded beside the spec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572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control-plane/src/resolve.js · submit.js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Spec → DAG</a:t>
            </a:r>
            <a:endParaRPr lang="en-US" sz="2800" dirty="0"/>
          </a:p>
        </p:txBody>
      </p:sp>
      <p:sp>
        <p:nvSpPr>
          <p:cNvPr id="4" name="decision"/>
          <p:cNvSpPr/>
          <p:nvPr/>
        </p:nvSpPr>
        <p:spPr>
          <a:xfrm>
            <a:off x="457200" y="1005840"/>
            <a:ext cx="8229600" cy="658368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00584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</a:rPr>
              <a:t>DECISION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737360" y="100584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One DAG per spec, holding the whole sequence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92024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How: 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 DAG factory reads every spec from the store; nothing is written into the dags folder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Graph: 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steps declare needs, so they can fork and join (scan and load-test, then the gate)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Why Airflow: 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open source, extensible; runs are durable entities with state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3"/>
                </a:solidFill>
              </a:rPr>
              <a:t>Rejected: 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one DAG per gate. A sensor in reschedule mode already frees its worker while it waits; splitting lost the end-to-end graph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3"/>
                </a:solidFill>
              </a:rPr>
              <a:t>Rejected: 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Temporal: narrower ecosystem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572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control-plane/src/dag.js · orchestrator/dags/factory_dags.py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DAG tasks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0350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B3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scaffold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creates a git repo holding a working Node service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build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builds the image, tagged with the commit; then asks for the kustomize tree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deploy_staging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renders the staging overlay and applies 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checks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makes the deployment measurable, then evaluates acceptance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sign_off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sensor: waits for a person with the gate's role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promote_production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renders the production overlay and applies 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3611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chemeClr val="accent3"/>
                </a:solidFill>
              </a:rPr>
              <a:t>Rejected: 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generating at submission with a pre-named :latest tag (the earlier version). A failed build left manifests for an image that did not exist, and two specs of one app shared an image</a:t>
            </a:r>
            <a:endParaRPr lang="en-US" sz="13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4572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orchestrator/dags/factory.py · factory_scaffold.py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Target: k8s + kustomize</a:t>
            </a:r>
            <a:endParaRPr lang="en-US" sz="2800" dirty="0"/>
          </a:p>
        </p:txBody>
      </p:sp>
      <p:sp>
        <p:nvSpPr>
          <p:cNvPr id="4" name="decision"/>
          <p:cNvSpPr/>
          <p:nvPr/>
        </p:nvSpPr>
        <p:spPr>
          <a:xfrm>
            <a:off x="457200" y="1005840"/>
            <a:ext cx="8229600" cy="658368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00584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</a:rPr>
              <a:t>DECISION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737360" y="100584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The target is an option on the spec (type); k8s is the first, not the model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920240"/>
            <a:ext cx="4754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chemeClr val="tx2"/>
                </a:solidFill>
              </a:rPr>
              <a:t>Why k8s first: 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 real deployment, so acceptance is measured against something running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chemeClr val="tx2"/>
                </a:solidFill>
              </a:rPr>
              <a:t>Why kustomize: 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one overlay per blueprint environment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chemeClr val="tx2"/>
                </a:solidFill>
              </a:rPr>
              <a:t> 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the kustomization is the editable artifact; a rendered manifest is raw YAML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chemeClr val="tx2"/>
                </a:solidFill>
              </a:rPr>
              <a:t> 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the tree belongs to one spec: no shared file to edit between build and apply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chemeClr val="tx2"/>
                </a:solidFill>
              </a:rPr>
              <a:t>Guard: 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the orchestrator refuses a target it cannot realise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1920240"/>
          <a:ext cx="329184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1005840"/>
                <a:gridCol w="14173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B3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replicas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50m / 200m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200m / 1000m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64Mi / 128Mi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256Mi / 512Mi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namespace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payments-production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394960" y="36576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foo / bar: the overlay patches only what differs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4572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control-plane/src/kustomize.js · resolve.js:14 · factory.py (target check)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Policy at every action</a:t>
            </a:r>
            <a:endParaRPr lang="en-US" sz="2800" dirty="0"/>
          </a:p>
        </p:txBody>
      </p:sp>
      <p:sp>
        <p:nvSpPr>
          <p:cNvPr id="4" name="decision"/>
          <p:cNvSpPr/>
          <p:nvPr/>
        </p:nvSpPr>
        <p:spPr>
          <a:xfrm>
            <a:off x="457200" y="1005840"/>
            <a:ext cx="8229600" cy="658368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00584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</a:rPr>
              <a:t>DECISION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737360" y="100584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The worker decides nothing: it states intent and asks OPA</a:t>
            </a:r>
            <a:endParaRPr lang="en-US" sz="1500" dirty="0"/>
          </a:p>
        </p:txBody>
      </p:sp>
      <p:sp>
        <p:nvSpPr>
          <p:cNvPr id="7" name="allow"/>
          <p:cNvSpPr/>
          <p:nvPr/>
        </p:nvSpPr>
        <p:spPr>
          <a:xfrm>
            <a:off x="457200" y="1920240"/>
            <a:ext cx="1463040" cy="41148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19202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</a:t>
            </a:r>
            <a:endParaRPr lang="en-US" sz="1200" dirty="0"/>
          </a:p>
        </p:txBody>
      </p:sp>
      <p:sp>
        <p:nvSpPr>
          <p:cNvPr id="9" name="deny"/>
          <p:cNvSpPr/>
          <p:nvPr/>
        </p:nvSpPr>
        <p:spPr>
          <a:xfrm>
            <a:off x="2057400" y="1920240"/>
            <a:ext cx="1463040" cy="41148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057400" y="19202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deny</a:t>
            </a:r>
            <a:endParaRPr lang="en-US" sz="1200" dirty="0"/>
          </a:p>
        </p:txBody>
      </p:sp>
      <p:sp>
        <p:nvSpPr>
          <p:cNvPr id="11" name="cannot_tell"/>
          <p:cNvSpPr/>
          <p:nvPr/>
        </p:nvSpPr>
        <p:spPr>
          <a:xfrm>
            <a:off x="3657600" y="1920240"/>
            <a:ext cx="1463040" cy="41148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657600" y="19202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cannot_tell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349240" y="192024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cannot_tell refuses, but is recorded as a different fact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2560320"/>
            <a:ext cx="8229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chemeClr val="tx2"/>
                </a:solidFill>
              </a:rPr>
              <a:t>Inputs: 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intent and identity from the caller; boundaries, team and approvals from the store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chemeClr val="tx2"/>
                </a:solidFill>
              </a:rPr>
              <a:t>Why: 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 worker asking to promote cannot also assert that it was approved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chemeClr val="tx2"/>
                </a:solidFill>
              </a:rPr>
              <a:t>Effect: 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 run posted straight at promote is refused: no approval on record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chemeClr val="tx2"/>
                </a:solidFill>
              </a:rPr>
              <a:t>RBAC: 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one input (the gate's role), not the decision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572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policies/factory.rego · factory.py: request_action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Identity</a:t>
            </a:r>
            <a:endParaRPr lang="en-US" sz="2800" dirty="0"/>
          </a:p>
        </p:txBody>
      </p:sp>
      <p:sp>
        <p:nvSpPr>
          <p:cNvPr id="4" name="decision"/>
          <p:cNvSpPr/>
          <p:nvPr/>
        </p:nvSpPr>
        <p:spPr>
          <a:xfrm>
            <a:off x="457200" y="1005840"/>
            <a:ext cx="8229600" cy="658368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00584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</a:rPr>
              <a:t>DECISION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737360" y="100584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Signed JWT, verified against the issuer's key set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926080"/>
                <a:gridCol w="29260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B3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gets a token by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signing 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client_credentials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principal_type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approve a gate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with the gate's role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57200" y="34747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chemeClr val="tx2"/>
                </a:solidFill>
              </a:rPr>
              <a:t>Why: 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team and roles come from the token, never from a body, query or header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chemeClr val="accent1"/>
                </a:solidFill>
              </a:rPr>
              <a:t>OPEN: 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the manifests endpoint is not authenticated yet; intended: a run-scoped token checked by policy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4572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control-plane/src/principal.js · identity/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Acceptance</a:t>
            </a:r>
            <a:endParaRPr lang="en-US" sz="2800" dirty="0"/>
          </a:p>
        </p:txBody>
      </p:sp>
      <p:sp>
        <p:nvSpPr>
          <p:cNvPr id="4" name="decision"/>
          <p:cNvSpPr/>
          <p:nvPr/>
        </p:nvSpPr>
        <p:spPr>
          <a:xfrm>
            <a:off x="457200" y="1005840"/>
            <a:ext cx="8229600" cy="658368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00584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</a:rPr>
              <a:t>DECISION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737360" y="100584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The app exposes raw counters; the factory judges</a:t>
            </a:r>
            <a:endParaRPr lang="en-US" sz="1500" dirty="0"/>
          </a:p>
        </p:txBody>
      </p:sp>
      <p:sp>
        <p:nvSpPr>
          <p:cNvPr id="7" name="app /metrics"/>
          <p:cNvSpPr/>
          <p:nvPr/>
        </p:nvSpPr>
        <p:spPr>
          <a:xfrm>
            <a:off x="457200" y="1920240"/>
            <a:ext cx="1828800" cy="54864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1920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app /metrics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313432" y="2194560"/>
            <a:ext cx="274320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0" name="Prometheus"/>
          <p:cNvSpPr/>
          <p:nvPr/>
        </p:nvSpPr>
        <p:spPr>
          <a:xfrm>
            <a:off x="2606040" y="1920240"/>
            <a:ext cx="1828800" cy="54864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606040" y="1920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Prometheus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462272" y="2194560"/>
            <a:ext cx="274320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3" name="alert rule per spec"/>
          <p:cNvSpPr/>
          <p:nvPr/>
        </p:nvSpPr>
        <p:spPr>
          <a:xfrm>
            <a:off x="4754880" y="1920240"/>
            <a:ext cx="1828800" cy="54864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754880" y="1920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alert rule per spec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611112" y="2194560"/>
            <a:ext cx="274320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6" name="verdict"/>
          <p:cNvSpPr/>
          <p:nvPr/>
        </p:nvSpPr>
        <p:spPr>
          <a:xfrm>
            <a:off x="6903720" y="1920240"/>
            <a:ext cx="1828800" cy="54864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903720" y="1920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verdict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chemeClr val="tx2"/>
                </a:solidFill>
              </a:rPr>
              <a:t>Why: 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an app that graded itself could report whatever it liked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chemeClr val="tx2"/>
                </a:solidFill>
              </a:rPr>
              <a:t>Rule: 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rendered from the blueprint's acceptance block, e.g. error_rate &lt; {{ slo_error_rate }}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572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orchestrator/dags/factory_metrics.py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Demo, over MCP</a:t>
            </a:r>
            <a:endParaRPr lang="en-US" sz="2800" dirty="0"/>
          </a:p>
        </p:txBody>
      </p:sp>
      <p:sp>
        <p:nvSpPr>
          <p:cNvPr id="4" name="code"/>
          <p:cNvSpPr/>
          <p:nvPr/>
        </p:nvSpPr>
        <p:spPr>
          <a:xfrm>
            <a:off x="457200" y="1005840"/>
            <a:ext cx="3840480" cy="2194560"/>
          </a:xfrm>
          <a:prstGeom prst="roundRect">
            <a:avLst>
              <a:gd name="adj" fmla="val 2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14300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whoami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agent:developer:payments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deployment_create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blueprint: foo,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answers: { app_name: bar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spec-&lt;id&gt;, DAG spec_&lt;id&gt;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383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Written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7033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chemeClr val="tx2"/>
                </a:solidFill>
              </a:rPr>
              <a:t>At submission: 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deployments/&lt;id&gt;/spec.yaml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chemeClr val="tx2"/>
                </a:solidFill>
              </a:rPr>
              <a:t>After build: 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kustomize/base, kustomize/overlays/{staging,production}</a:t>
            </a:r>
            <a:endParaRPr lang="en-US" sz="1200" dirty="0"/>
          </a:p>
        </p:txBody>
      </p:sp>
      <p:pic>
        <p:nvPicPr>
          <p:cNvPr id="8" name="dag-run" descr="Airflow run with staging tasks succeeded and sign_off wai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005840"/>
            <a:ext cx="4206240" cy="194134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480560" y="299290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Earlier run in Airflow: staging done, sign_off waiting (sensor, up for reschedule)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Prototype limits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B3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 store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DB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Mock OIDC issuer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IdP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Prometheus on emptyDir, 2 h retention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Durable metrics backend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kind, one cluster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clusters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target type (k8s)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Further targets per 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tagged with its commit, loaded into kind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Registry, pinned by digest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Manifests endpoint unauthenticated (OPEN)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Run-scoped token, checked by policy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tory">
  <a:themeElements>
    <a:clrScheme name="Factory">
      <a:dk1>
        <a:srgbClr val="1F2328"/>
      </a:dk1>
      <a:lt1>
        <a:srgbClr val="FFFFFF"/>
      </a:lt1>
      <a:dk2>
        <a:srgbClr val="1D2B36"/>
      </a:dk2>
      <a:lt2>
        <a:srgbClr val="F0F2F4"/>
      </a:lt2>
      <a:accent1>
        <a:srgbClr val="D98E1F"/>
      </a:accent1>
      <a:accent2>
        <a:srgbClr val="2E7D66"/>
      </a:accent2>
      <a:accent3>
        <a:srgbClr val="B8433A"/>
      </a:accent3>
      <a:accent4>
        <a:srgbClr val="66727D"/>
      </a:accent4>
      <a:accent5>
        <a:srgbClr val="3C6E9E"/>
      </a:accent5>
      <a:accent6>
        <a:srgbClr val="8A5CB8"/>
      </a:accent6>
      <a:hlink>
        <a:srgbClr val="3C6E9E"/>
      </a:hlink>
      <a:folHlink>
        <a:srgbClr val="8A5CB8"/>
      </a:folHlink>
    </a:clrScheme>
    <a:fontScheme name="Factory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Operations Factory</dc:title>
  <dc:subject>PptxGenJS Presentation</dc:subject>
  <dc:creator>PptxGenJS</dc:creator>
  <cp:lastModifiedBy>PptxGenJS</cp:lastModifiedBy>
  <cp:revision>1</cp:revision>
  <dcterms:created xsi:type="dcterms:W3CDTF">2026-10-02T14:17:23Z</dcterms:created>
  <dcterms:modified xsi:type="dcterms:W3CDTF">2026-10-02T14:17:23Z</dcterms:modified>
</cp:coreProperties>
</file>